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6" r:id="rId10"/>
    <p:sldId id="262" r:id="rId11"/>
    <p:sldId id="263" r:id="rId12"/>
  </p:sldIdLst>
  <p:sldSz cx="12192000" cy="6858000"/>
  <p:notesSz cx="6669088" cy="97536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xgbYjccChfboh+PxKghejRKdf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1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277F1-729D-4533-9937-95B36D51CB5B}" v="2" dt="2026-08-06T07:05:58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816" autoAdjust="0"/>
  </p:normalViewPr>
  <p:slideViewPr>
    <p:cSldViewPr snapToGrid="0">
      <p:cViewPr varScale="1">
        <p:scale>
          <a:sx n="77" d="100"/>
          <a:sy n="77" d="100"/>
        </p:scale>
        <p:origin x="1788" y="9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zza Maira" userId="d0a25a6f-4008-4c86-8740-27856525f3e1" providerId="ADAL" clId="{A44FACB3-3A32-418A-B1D8-F602B668736A}"/>
    <pc:docChg chg="undo custSel addSld modSld">
      <pc:chgData name="Fizza Maira" userId="d0a25a6f-4008-4c86-8740-27856525f3e1" providerId="ADAL" clId="{A44FACB3-3A32-418A-B1D8-F602B668736A}" dt="2026-08-06T07:13:10.115" v="595" actId="1076"/>
      <pc:docMkLst>
        <pc:docMk/>
      </pc:docMkLst>
      <pc:sldChg chg="modSp mod">
        <pc:chgData name="Fizza Maira" userId="d0a25a6f-4008-4c86-8740-27856525f3e1" providerId="ADAL" clId="{A44FACB3-3A32-418A-B1D8-F602B668736A}" dt="2026-08-06T06:56:31.796" v="66" actId="207"/>
        <pc:sldMkLst>
          <pc:docMk/>
          <pc:sldMk cId="0" sldId="256"/>
        </pc:sldMkLst>
        <pc:spChg chg="mod">
          <ac:chgData name="Fizza Maira" userId="d0a25a6f-4008-4c86-8740-27856525f3e1" providerId="ADAL" clId="{A44FACB3-3A32-418A-B1D8-F602B668736A}" dt="2026-08-06T06:56:31.796" v="66" actId="207"/>
          <ac:spMkLst>
            <pc:docMk/>
            <pc:sldMk cId="0" sldId="256"/>
            <ac:spMk id="94" creationId="{00000000-0000-0000-0000-000000000000}"/>
          </ac:spMkLst>
        </pc:spChg>
      </pc:sldChg>
      <pc:sldChg chg="addSp delSp modSp mod">
        <pc:chgData name="Fizza Maira" userId="d0a25a6f-4008-4c86-8740-27856525f3e1" providerId="ADAL" clId="{A44FACB3-3A32-418A-B1D8-F602B668736A}" dt="2026-08-06T06:59:42.372" v="125" actId="1036"/>
        <pc:sldMkLst>
          <pc:docMk/>
          <pc:sldMk cId="0" sldId="257"/>
        </pc:sldMkLst>
        <pc:spChg chg="add mod">
          <ac:chgData name="Fizza Maira" userId="d0a25a6f-4008-4c86-8740-27856525f3e1" providerId="ADAL" clId="{A44FACB3-3A32-418A-B1D8-F602B668736A}" dt="2026-08-06T06:56:48.518" v="69" actId="122"/>
          <ac:spMkLst>
            <pc:docMk/>
            <pc:sldMk cId="0" sldId="257"/>
            <ac:spMk id="3" creationId="{6E5FE501-52FC-9663-175F-EE814939F785}"/>
          </ac:spMkLst>
        </pc:spChg>
        <pc:spChg chg="add mod">
          <ac:chgData name="Fizza Maira" userId="d0a25a6f-4008-4c86-8740-27856525f3e1" providerId="ADAL" clId="{A44FACB3-3A32-418A-B1D8-F602B668736A}" dt="2026-08-06T06:59:42.372" v="125" actId="1036"/>
          <ac:spMkLst>
            <pc:docMk/>
            <pc:sldMk cId="0" sldId="257"/>
            <ac:spMk id="5" creationId="{F18859DA-4EBF-86FB-39DA-CC40AEFAA531}"/>
          </ac:spMkLst>
        </pc:spChg>
        <pc:spChg chg="add del mod">
          <ac:chgData name="Fizza Maira" userId="d0a25a6f-4008-4c86-8740-27856525f3e1" providerId="ADAL" clId="{A44FACB3-3A32-418A-B1D8-F602B668736A}" dt="2026-08-06T06:56:56.706" v="71" actId="478"/>
          <ac:spMkLst>
            <pc:docMk/>
            <pc:sldMk cId="0" sldId="257"/>
            <ac:spMk id="7" creationId="{47ACB267-F7CA-D45F-F1B9-E208296EE326}"/>
          </ac:spMkLst>
        </pc:spChg>
        <pc:spChg chg="add del mod">
          <ac:chgData name="Fizza Maira" userId="d0a25a6f-4008-4c86-8740-27856525f3e1" providerId="ADAL" clId="{A44FACB3-3A32-418A-B1D8-F602B668736A}" dt="2026-08-06T06:56:52.400" v="70" actId="478"/>
          <ac:spMkLst>
            <pc:docMk/>
            <pc:sldMk cId="0" sldId="257"/>
            <ac:spMk id="9" creationId="{8C2CC35A-C1C4-C9E7-86A2-232A1BAC361B}"/>
          </ac:spMkLst>
        </pc:spChg>
      </pc:sldChg>
      <pc:sldChg chg="addSp delSp modSp mod">
        <pc:chgData name="Fizza Maira" userId="d0a25a6f-4008-4c86-8740-27856525f3e1" providerId="ADAL" clId="{A44FACB3-3A32-418A-B1D8-F602B668736A}" dt="2026-08-06T07:07:56.465" v="389" actId="1035"/>
        <pc:sldMkLst>
          <pc:docMk/>
          <pc:sldMk cId="0" sldId="258"/>
        </pc:sldMkLst>
        <pc:spChg chg="add mod">
          <ac:chgData name="Fizza Maira" userId="d0a25a6f-4008-4c86-8740-27856525f3e1" providerId="ADAL" clId="{A44FACB3-3A32-418A-B1D8-F602B668736A}" dt="2026-08-06T07:07:56.465" v="389" actId="1035"/>
          <ac:spMkLst>
            <pc:docMk/>
            <pc:sldMk cId="0" sldId="258"/>
            <ac:spMk id="3" creationId="{9809ED82-7865-1E75-8005-E3EE187972A9}"/>
          </ac:spMkLst>
        </pc:spChg>
        <pc:spChg chg="add del">
          <ac:chgData name="Fizza Maira" userId="d0a25a6f-4008-4c86-8740-27856525f3e1" providerId="ADAL" clId="{A44FACB3-3A32-418A-B1D8-F602B668736A}" dt="2026-08-06T06:57:33.761" v="75" actId="22"/>
          <ac:spMkLst>
            <pc:docMk/>
            <pc:sldMk cId="0" sldId="258"/>
            <ac:spMk id="5" creationId="{8F03CF5C-94F2-6975-E3F3-1B4B69AD5D5D}"/>
          </ac:spMkLst>
        </pc:spChg>
        <pc:spChg chg="add del mod">
          <ac:chgData name="Fizza Maira" userId="d0a25a6f-4008-4c86-8740-27856525f3e1" providerId="ADAL" clId="{A44FACB3-3A32-418A-B1D8-F602B668736A}" dt="2026-08-06T06:58:06.206" v="84" actId="21"/>
          <ac:spMkLst>
            <pc:docMk/>
            <pc:sldMk cId="0" sldId="258"/>
            <ac:spMk id="7" creationId="{22D905D9-AAC5-3957-E29C-1F3E78727844}"/>
          </ac:spMkLst>
        </pc:spChg>
        <pc:spChg chg="add mod">
          <ac:chgData name="Fizza Maira" userId="d0a25a6f-4008-4c86-8740-27856525f3e1" providerId="ADAL" clId="{A44FACB3-3A32-418A-B1D8-F602B668736A}" dt="2026-08-06T07:07:18.056" v="299" actId="12788"/>
          <ac:spMkLst>
            <pc:docMk/>
            <pc:sldMk cId="0" sldId="258"/>
            <ac:spMk id="9" creationId="{73F3F64E-BE4D-D3DF-57D5-BF67AE1E9EDD}"/>
          </ac:spMkLst>
        </pc:spChg>
      </pc:sldChg>
      <pc:sldChg chg="addSp modSp new mod">
        <pc:chgData name="Fizza Maira" userId="d0a25a6f-4008-4c86-8740-27856525f3e1" providerId="ADAL" clId="{A44FACB3-3A32-418A-B1D8-F602B668736A}" dt="2026-08-06T07:08:22.098" v="420" actId="1035"/>
        <pc:sldMkLst>
          <pc:docMk/>
          <pc:sldMk cId="3289224814" sldId="259"/>
        </pc:sldMkLst>
        <pc:spChg chg="add mod">
          <ac:chgData name="Fizza Maira" userId="d0a25a6f-4008-4c86-8740-27856525f3e1" providerId="ADAL" clId="{A44FACB3-3A32-418A-B1D8-F602B668736A}" dt="2026-08-06T07:08:22.098" v="420" actId="1035"/>
          <ac:spMkLst>
            <pc:docMk/>
            <pc:sldMk cId="3289224814" sldId="259"/>
            <ac:spMk id="3" creationId="{31AE4673-2310-7768-CAFE-C71E228846A7}"/>
          </ac:spMkLst>
        </pc:spChg>
        <pc:spChg chg="add mod">
          <ac:chgData name="Fizza Maira" userId="d0a25a6f-4008-4c86-8740-27856525f3e1" providerId="ADAL" clId="{A44FACB3-3A32-418A-B1D8-F602B668736A}" dt="2026-08-06T07:07:48.107" v="348" actId="20577"/>
          <ac:spMkLst>
            <pc:docMk/>
            <pc:sldMk cId="3289224814" sldId="259"/>
            <ac:spMk id="5" creationId="{98CF4003-6B2E-87CF-2817-76889C6135B4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0:21.214" v="482"/>
        <pc:sldMkLst>
          <pc:docMk/>
          <pc:sldMk cId="3987153470" sldId="260"/>
        </pc:sldMkLst>
        <pc:spChg chg="add mod">
          <ac:chgData name="Fizza Maira" userId="d0a25a6f-4008-4c86-8740-27856525f3e1" providerId="ADAL" clId="{A44FACB3-3A32-418A-B1D8-F602B668736A}" dt="2026-08-06T07:09:54.338" v="481" actId="1076"/>
          <ac:spMkLst>
            <pc:docMk/>
            <pc:sldMk cId="3987153470" sldId="260"/>
            <ac:spMk id="3" creationId="{FBE09B85-CBAA-6E41-F9C1-5D0C62D32631}"/>
          </ac:spMkLst>
        </pc:spChg>
        <pc:spChg chg="add mod">
          <ac:chgData name="Fizza Maira" userId="d0a25a6f-4008-4c86-8740-27856525f3e1" providerId="ADAL" clId="{A44FACB3-3A32-418A-B1D8-F602B668736A}" dt="2026-08-06T07:10:21.214" v="482"/>
          <ac:spMkLst>
            <pc:docMk/>
            <pc:sldMk cId="3987153470" sldId="260"/>
            <ac:spMk id="5" creationId="{E2D08B99-26E8-96E3-B453-DEED97ED3C1F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1:25.705" v="519" actId="1076"/>
        <pc:sldMkLst>
          <pc:docMk/>
          <pc:sldMk cId="684907484" sldId="261"/>
        </pc:sldMkLst>
        <pc:spChg chg="add mod">
          <ac:chgData name="Fizza Maira" userId="d0a25a6f-4008-4c86-8740-27856525f3e1" providerId="ADAL" clId="{A44FACB3-3A32-418A-B1D8-F602B668736A}" dt="2026-08-06T07:11:25.705" v="519" actId="1076"/>
          <ac:spMkLst>
            <pc:docMk/>
            <pc:sldMk cId="684907484" sldId="261"/>
            <ac:spMk id="3" creationId="{F6631922-EDA2-CA93-9A0A-C814D5C410DE}"/>
          </ac:spMkLst>
        </pc:spChg>
        <pc:spChg chg="add mod">
          <ac:chgData name="Fizza Maira" userId="d0a25a6f-4008-4c86-8740-27856525f3e1" providerId="ADAL" clId="{A44FACB3-3A32-418A-B1D8-F602B668736A}" dt="2026-08-06T07:10:54.305" v="515"/>
          <ac:spMkLst>
            <pc:docMk/>
            <pc:sldMk cId="684907484" sldId="261"/>
            <ac:spMk id="5" creationId="{BC92D5CD-CEED-CAF9-8E1C-650675A313C3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2:09.100" v="557" actId="1076"/>
        <pc:sldMkLst>
          <pc:docMk/>
          <pc:sldMk cId="2040043498" sldId="262"/>
        </pc:sldMkLst>
        <pc:spChg chg="add mod">
          <ac:chgData name="Fizza Maira" userId="d0a25a6f-4008-4c86-8740-27856525f3e1" providerId="ADAL" clId="{A44FACB3-3A32-418A-B1D8-F602B668736A}" dt="2026-08-06T07:12:09.100" v="557" actId="1076"/>
          <ac:spMkLst>
            <pc:docMk/>
            <pc:sldMk cId="2040043498" sldId="262"/>
            <ac:spMk id="3" creationId="{158013A2-70CA-8E35-F3F3-F40CD428166B}"/>
          </ac:spMkLst>
        </pc:spChg>
        <pc:spChg chg="add mod">
          <ac:chgData name="Fizza Maira" userId="d0a25a6f-4008-4c86-8740-27856525f3e1" providerId="ADAL" clId="{A44FACB3-3A32-418A-B1D8-F602B668736A}" dt="2026-08-06T07:11:53.354" v="555"/>
          <ac:spMkLst>
            <pc:docMk/>
            <pc:sldMk cId="2040043498" sldId="262"/>
            <ac:spMk id="5" creationId="{688822D8-D529-2998-D46B-41BB9F87B091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3:10.115" v="595" actId="1076"/>
        <pc:sldMkLst>
          <pc:docMk/>
          <pc:sldMk cId="3937486198" sldId="263"/>
        </pc:sldMkLst>
        <pc:spChg chg="add mod">
          <ac:chgData name="Fizza Maira" userId="d0a25a6f-4008-4c86-8740-27856525f3e1" providerId="ADAL" clId="{A44FACB3-3A32-418A-B1D8-F602B668736A}" dt="2026-08-06T07:13:10.115" v="595" actId="1076"/>
          <ac:spMkLst>
            <pc:docMk/>
            <pc:sldMk cId="3937486198" sldId="263"/>
            <ac:spMk id="3" creationId="{460254CD-0903-966C-40EF-C5EBA490158C}"/>
          </ac:spMkLst>
        </pc:spChg>
        <pc:spChg chg="add mod">
          <ac:chgData name="Fizza Maira" userId="d0a25a6f-4008-4c86-8740-27856525f3e1" providerId="ADAL" clId="{A44FACB3-3A32-418A-B1D8-F602B668736A}" dt="2026-08-06T07:12:49.659" v="592"/>
          <ac:spMkLst>
            <pc:docMk/>
            <pc:sldMk cId="3937486198" sldId="263"/>
            <ac:spMk id="5" creationId="{7FE4D497-87C5-39D6-FAF0-4FE272E0EB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9938" cy="48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7607" y="0"/>
            <a:ext cx="2889938" cy="48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7988" y="1219200"/>
            <a:ext cx="5853112" cy="329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6909" y="4693920"/>
            <a:ext cx="533527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264228"/>
            <a:ext cx="2889938" cy="48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7607" y="9264228"/>
            <a:ext cx="2889938" cy="48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66909" y="4693920"/>
            <a:ext cx="533527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19200"/>
            <a:ext cx="5853112" cy="329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66909" y="4693920"/>
            <a:ext cx="533527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hu-HU" dirty="0" err="1"/>
              <a:t>Hi</a:t>
            </a:r>
            <a:r>
              <a:rPr lang="hu-HU" dirty="0"/>
              <a:t> </a:t>
            </a:r>
            <a:r>
              <a:rPr lang="hu-HU" dirty="0" err="1"/>
              <a:t>everyone</a:t>
            </a:r>
            <a:r>
              <a:rPr lang="hu-HU" dirty="0"/>
              <a:t>, </a:t>
            </a:r>
            <a:r>
              <a:rPr lang="hu-HU" dirty="0" err="1"/>
              <a:t>my</a:t>
            </a:r>
            <a:r>
              <a:rPr lang="hu-HU" dirty="0"/>
              <a:t> </a:t>
            </a:r>
            <a:r>
              <a:rPr lang="hu-HU" dirty="0" err="1"/>
              <a:t>name</a:t>
            </a:r>
            <a:r>
              <a:rPr lang="hu-HU" dirty="0"/>
              <a:t> is Richard, </a:t>
            </a:r>
            <a:r>
              <a:rPr lang="hu-HU" dirty="0" err="1"/>
              <a:t>I’m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Budapest, and </a:t>
            </a:r>
            <a:r>
              <a:rPr lang="hu-HU" dirty="0" err="1"/>
              <a:t>today</a:t>
            </a:r>
            <a:r>
              <a:rPr lang="hu-HU" dirty="0"/>
              <a:t> </a:t>
            </a:r>
            <a:r>
              <a:rPr lang="hu-HU" dirty="0" err="1"/>
              <a:t>I’d</a:t>
            </a:r>
            <a:r>
              <a:rPr lang="hu-HU" dirty="0"/>
              <a:t> like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present</a:t>
            </a:r>
            <a:r>
              <a:rPr lang="hu-HU" dirty="0"/>
              <a:t> </a:t>
            </a:r>
            <a:r>
              <a:rPr lang="hu-HU" dirty="0" err="1"/>
              <a:t>you</a:t>
            </a:r>
            <a:r>
              <a:rPr lang="hu-HU" dirty="0"/>
              <a:t> </a:t>
            </a:r>
            <a:r>
              <a:rPr lang="hu-HU" dirty="0" err="1"/>
              <a:t>my</a:t>
            </a:r>
            <a:r>
              <a:rPr lang="hu-HU" dirty="0"/>
              <a:t> RAG </a:t>
            </a:r>
            <a:r>
              <a:rPr lang="hu-HU" dirty="0" err="1"/>
              <a:t>system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I </a:t>
            </a:r>
            <a:r>
              <a:rPr lang="hu-HU" dirty="0" err="1"/>
              <a:t>developed</a:t>
            </a:r>
            <a:r>
              <a:rPr lang="hu-HU" dirty="0"/>
              <a:t> over </a:t>
            </a:r>
            <a:r>
              <a:rPr lang="hu-HU" dirty="0" err="1"/>
              <a:t>the</a:t>
            </a:r>
            <a:r>
              <a:rPr lang="hu-HU" dirty="0"/>
              <a:t> last 8 </a:t>
            </a:r>
            <a:r>
              <a:rPr lang="hu-HU" dirty="0" err="1"/>
              <a:t>weeks</a:t>
            </a:r>
            <a:r>
              <a:rPr lang="hu-HU" dirty="0"/>
              <a:t>.</a:t>
            </a: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19200"/>
            <a:ext cx="5853112" cy="329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66909" y="4693920"/>
            <a:ext cx="533527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t"/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Ok,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so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lets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magine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 student researching a topic online. They ask an AI assistant a question and receive a confident answer. The problem is that the answer may sound correct even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when it is completely wrong. Most users will not have time to verify every statement themselves.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This project was created to address that challenge. Instead of trusting the model's memory, the system first searches a collection of Wikipedia articles,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identifies relevant evidence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and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hen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builds an answer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based only on that evidence. If the information cannot be found, the system prefers to admit its limitations rather than invent an answer. The goal is not simply to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create a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smarter AI, but to create a more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trustworthy one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19200"/>
            <a:ext cx="5853112" cy="329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it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comes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t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ather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than asking the language model to directly answer a question, the system first finds evidence, checks whether that evidence is sufficient, and only then produces a response. This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creates a more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reliable question-answering process because every answer is tied to supporting documents.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dirty="0">
              <a:solidFill>
                <a:schemeClr val="tx1"/>
              </a:solidFill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dirty="0">
                <a:solidFill>
                  <a:schemeClr val="tx1"/>
                </a:solidFill>
              </a:rPr>
              <a:t>Retrieval finds information, reasoning decides whether the information is sufficient, and generation communicates the answer to the user. Each stage depends on the previous one,</a:t>
            </a:r>
            <a:endParaRPr lang="hu-HU" sz="1200" b="0" dirty="0">
              <a:solidFill>
                <a:schemeClr val="tx1"/>
              </a:solidFill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dirty="0">
                <a:solidFill>
                  <a:schemeClr val="tx1"/>
                </a:solidFill>
              </a:rPr>
              <a:t>ensuring</a:t>
            </a:r>
            <a:r>
              <a:rPr lang="hu-HU" sz="1200" b="0" dirty="0">
                <a:solidFill>
                  <a:schemeClr val="tx1"/>
                </a:solidFill>
              </a:rPr>
              <a:t> </a:t>
            </a:r>
            <a:r>
              <a:rPr lang="en-US" sz="1200" b="0" dirty="0">
                <a:solidFill>
                  <a:schemeClr val="tx1"/>
                </a:solidFill>
              </a:rPr>
              <a:t>that answers are</a:t>
            </a:r>
            <a:r>
              <a:rPr lang="hu-HU" sz="1200" b="0" dirty="0">
                <a:solidFill>
                  <a:schemeClr val="tx1"/>
                </a:solidFill>
              </a:rPr>
              <a:t> </a:t>
            </a:r>
            <a:r>
              <a:rPr lang="en-US" sz="1200" b="0" dirty="0">
                <a:solidFill>
                  <a:schemeClr val="tx1"/>
                </a:solidFill>
              </a:rPr>
              <a:t>evidence-driven rather than based on assumptions.</a:t>
            </a:r>
            <a:endParaRPr lang="hu-HU" sz="1200" b="0" dirty="0">
              <a:solidFill>
                <a:schemeClr val="tx1"/>
              </a:solidFill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dirty="0">
              <a:solidFill>
                <a:schemeClr val="tx1"/>
              </a:solidFill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You can think of the workflow as similar to how a human researcher works: first find sources, then read them, decide whether more research is needed, and finally write an answer based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on the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vidence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collected.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1786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For this evaluation, I implemented a hybrid retrieval strategy that combines BM25 and vector search. The system uses agentic retrieval with iterative evidence gathering, relevance-confidence checks, and early stopping to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improve efficiency. I tested the system using a 25-question benchmark covering factual retrieval, multi-hop reasoning, prompt injection, ambiguous queries, malformed inputs, and out-of-domain questions.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Finally, an LLM-based judge evaluated responses using grading notes and produced pass or fail decisions.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5557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36B33-640F-98C5-92DE-7A67B342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735A9-5EA2-FC3E-1886-9BA80CB02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292FB-3CE6-DC74-3F6C-2A81BD2F2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vector search component computes a similarity score between the query embedding and each document embedding. Scores closer to 1 indicate stronger semantic relevance. During agentic retrieval, results from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multiple retrieval rounds are aggregated, producing cumulative relevance scores that help identify the most consistently relevant documents across iterative searches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evaluation demonstrates that the system is capable of grounded reasoning and is resistant to several prompt-injection attacks.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For example, even when instructed to ignore previous instructions or use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external knowledge, the system continued to retrieve evidence and correctly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identified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David Cronenberg as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t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director of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Videodrome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It also handled multi-hop questions by combining information from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multiple documents.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However, the results also revealed limitations. Certain questions, such as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identifying the creature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symbolizing Tasmania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failed despite retrieving the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relevant article, highlighting that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answer quality still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depends on both</a:t>
            </a:r>
            <a:endParaRPr lang="hu-HU" sz="1200" b="0" i="0" u="none" strike="noStrike" cap="none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retrieval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and reasoning.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9BE5A-C29D-FE1E-4BFE-DBF0B845B4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948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D5241-0F50-6FD8-E48C-6299B71BA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7A296-F420-46F8-06EA-060FF2DF7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3191C-D196-9430-F9E6-8EF69D215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Overall, the system demonstrated several strengths. It was robust against prompt injection attacks, handled noisy queries and multi-document reasoning well, and correctly refused to answer questions when information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was missing or unsupported.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However, performance was limited by the coverage of the document corpus, and some questions still failed despite retrieving relevant information. In addition, the agentic retrieval approach increased both cost and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latency. Across the evaluation, the system processed 25 questions, made 101 API calls, used approximately 388 thousand tokens, and completed in 275 seconds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A5EB4-E7C7-98DF-6392-7C4500CC0F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9324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 intentionally optimized for reliability and practicality rather than maximum complexity.</a:t>
            </a:r>
          </a:p>
          <a:p>
            <a:pPr fontAlgn="t"/>
            <a:endParaRPr lang="hu-HU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Decision: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 converted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articles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plain text instead of preserving full HTML structure.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Because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educed preprocessing complexity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It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resulted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Faster corpus loading and indexing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well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as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Smaller storage and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computational requirements.</a:t>
            </a:r>
          </a:p>
          <a:p>
            <a:pPr fontAlgn="t"/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llowed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more time to focus on retrieval quality and evaluation rather than data cleaning.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hu-HU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result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 got a s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impler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and more efficient pipeline, with some loss of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structural information.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Decision: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Combine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BM25 keyword retrieval with vector retrieval.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Why?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BM25 is effective when query terms match article content.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Vector search is better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when users phrase questions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differently.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compensates for the weaknesses of the other.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result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More robust retrieval across different question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types than either method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alone.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Decision: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Also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I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allowed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system to perform follow-up retrieval steps.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Why?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 single retrieval pass may miss important evidence.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Complex questions often require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more than one search.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Evidence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quality can be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checked before generating an answer.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way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provided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b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etter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support for multi-hop reasoning and comparison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questions.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resulting system was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able to answer factual and multi-hop questions,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resist prompt-injection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attacks, and identify unsupported claims while remaining grounded in retrieved evidence.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2517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8A98C-1B39-B4A1-8EF5-95DBB32E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04548-52CB-AA05-3695-4C92497CA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1796F-3AFF-5A28-2FB8-B99BDBAB5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progress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development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some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trade-offs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inevitably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occur because improving one aspect of the system often requires sacrificing another.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Simpler document representations improve efficiency but reduce available context. More sophisticated retrieval improves answer quality but requires more computation. Likewise, more thorough evaluation improves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reliability but increases runtime and cost. The final design balances these competing objectives in favor of system performance and robustness.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Main idea: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goal wasn't to build the most sophisticated architecture possible. The goal was to build a system that balanced effectiveness,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cost, and implementation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effort. I chose plain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text processing to simplify the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pipeline,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ybrid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retrieval to improve robustness, and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agentic retrieval to improve evidence quality. These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decisions allowed me to focus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development effort on grounded retrieval and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evaluation rather than on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building complex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infrastructure such as knowledge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graphs.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E761-DFD4-30C3-03F3-FF202491B5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4796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Limits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Despite the improvements in retrieval and evaluation, the system remains limited by the information available in the Wikipedia corpus and the quality of retrieved evidence.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E.g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cannot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make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sure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that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contained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articles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always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valid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and 100%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correct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Converting articles to plain text simplified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processing but removed structural relationships between documents, reducing opportunities for deeper relationship-based reasoning.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Additionally, the system currently operates on single-turn queries and cannot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maintain conversational context or remember previous interactions. 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Risks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primary risk is that incomplete or inaccurate retrieval can still affect answer quality, even when safeguards are in place.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agentic retrieval process also increases latency, token usage, and operating costs as additional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searches and evaluations are performed.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Finally, evaluation quality depends on the consistency of the LLM judge,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meaning some edge cases may still be assessed imperfectly.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hu-HU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While the system became more reliable through hybrid retrieval, agentic reasoning, and evaluation, it still depends heavily on corpus quality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and retrieval performance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next stage of development would focus on improving usability and retrieval depth. The highest priority would be adding a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conversational chat interface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with memory and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history, allowing users to ask follow-up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questions and maintain context across interactions. Beyond this, preserving more document structure could support graph-based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retrieval and stronger relationship reasoning, while expanded evaluation datasets and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retrieval optimization could further improve accuracy, efficiency, and overall user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experience.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If I were continuing this project, my first priority would not be a new retrieval algorithm but improving the user experience through a chat interface with conversational memory.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Currently, each question is treated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independently. Adding history and context awareness would make the system feel much more like a real assistant. After that, I would</a:t>
            </a: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fontAlgn="t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investigate preserving document relationships and potentially introducing graph-based</a:t>
            </a:r>
            <a:r>
              <a:rPr lang="hu-HU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retrieval to support more advanced reasoning tasks.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Beyond that,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preserving article relationships and</a:t>
            </a:r>
            <a:r>
              <a:rPr lang="hu-HU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exploring graph-based retrieval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would be the next major technical enhancement.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hu-HU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6751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8708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19600"/>
            <a:ext cx="12192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30830" y="3686830"/>
            <a:ext cx="1905000" cy="522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7369" y="6362197"/>
            <a:ext cx="960461" cy="3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5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Blank">
  <p:cSld name="7_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3976469" y="2607021"/>
            <a:ext cx="4239062" cy="164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5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261257" y="5321712"/>
            <a:ext cx="10896599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r>
              <a:rPr lang="en-IN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Design Review Presentation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291078" y="1298425"/>
            <a:ext cx="1160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slide title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FE501-52FC-9663-175F-EE814939F785}"/>
              </a:ext>
            </a:extLst>
          </p:cNvPr>
          <p:cNvSpPr txBox="1"/>
          <p:nvPr/>
        </p:nvSpPr>
        <p:spPr>
          <a:xfrm>
            <a:off x="859972" y="2488225"/>
            <a:ext cx="104720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en-IN" dirty="0"/>
              <a:t>Designing and Evaluating a Retrieval-Augmented LLM System</a:t>
            </a:r>
          </a:p>
          <a:p>
            <a:pPr algn="ctr"/>
            <a:r>
              <a:rPr lang="hu-HU" dirty="0"/>
              <a:t>Richard </a:t>
            </a:r>
            <a:r>
              <a:rPr lang="hu-HU" dirty="0" err="1"/>
              <a:t>Mihaly</a:t>
            </a:r>
            <a:r>
              <a:rPr lang="hu-HU" dirty="0"/>
              <a:t> Karsai</a:t>
            </a:r>
            <a:r>
              <a:rPr lang="en-IN" dirty="0"/>
              <a:t> | </a:t>
            </a:r>
            <a:r>
              <a:rPr lang="hu-HU" dirty="0"/>
              <a:t>Wikipedia </a:t>
            </a:r>
            <a:r>
              <a:rPr lang="hu-HU" dirty="0" err="1"/>
              <a:t>retrieval</a:t>
            </a:r>
            <a:r>
              <a:rPr lang="hu-HU" dirty="0"/>
              <a:t> </a:t>
            </a:r>
            <a:r>
              <a:rPr lang="hu-HU" dirty="0" err="1"/>
              <a:t>engine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F3F64E-BE4D-D3DF-57D5-BF67AE1E9EDD}"/>
              </a:ext>
            </a:extLst>
          </p:cNvPr>
          <p:cNvSpPr txBox="1"/>
          <p:nvPr/>
        </p:nvSpPr>
        <p:spPr>
          <a:xfrm>
            <a:off x="3048000" y="17079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C9AEBC-A9C5-538D-792E-D00B5D8B7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685" b="15632"/>
          <a:stretch>
            <a:fillRect/>
          </a:stretch>
        </p:blipFill>
        <p:spPr>
          <a:xfrm>
            <a:off x="160029" y="820882"/>
            <a:ext cx="11871941" cy="56734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52F926-F25A-3553-DDD5-35B65D3AE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51000"/>
                    </a14:imgEffect>
                  </a14:imgLayer>
                </a14:imgProps>
              </a:ext>
            </a:extLst>
          </a:blip>
          <a:srcRect l="9227" t="239" r="7587" b="1181"/>
          <a:stretch>
            <a:fillRect/>
          </a:stretch>
        </p:blipFill>
        <p:spPr>
          <a:xfrm>
            <a:off x="6096001" y="1663031"/>
            <a:ext cx="5393635" cy="4261131"/>
          </a:xfrm>
          <a:prstGeom prst="roundRect">
            <a:avLst/>
          </a:prstGeom>
          <a:effectLst>
            <a:outerShdw blurRad="50800" dist="50800" dir="5400000" algn="ctr" rotWithShape="0">
              <a:srgbClr val="000000">
                <a:alpha val="43000"/>
              </a:srgbClr>
            </a:outerShdw>
            <a:softEdge rad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AE4673-2310-7768-CAFE-C71E228846A7}"/>
              </a:ext>
            </a:extLst>
          </p:cNvPr>
          <p:cNvSpPr txBox="1"/>
          <p:nvPr/>
        </p:nvSpPr>
        <p:spPr>
          <a:xfrm>
            <a:off x="702364" y="608110"/>
            <a:ext cx="539363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 lang="en-I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</a:rPr>
              <a:t>The system follows a Retrieval-Augmented Generation (RAG) architecture designed to answer questions using a trusted Wikipedia knowledge base rather than relying solely on the language model's memory</a:t>
            </a:r>
            <a:endParaRPr lang="hu-HU" sz="18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hu-HU" sz="18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</a:rPr>
              <a:t>At a high level, the architecture consists of four layers:</a:t>
            </a:r>
            <a:endParaRPr lang="hu-HU" sz="18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hu-HU" sz="1800" b="0" dirty="0">
              <a:solidFill>
                <a:schemeClr val="tx1"/>
              </a:solidFill>
            </a:endParaRPr>
          </a:p>
          <a:p>
            <a:pPr marL="180975" indent="-180975" algn="l"/>
            <a:r>
              <a:rPr lang="hu-HU" sz="1800" b="0" dirty="0">
                <a:solidFill>
                  <a:schemeClr val="tx1"/>
                </a:solidFill>
              </a:rPr>
              <a:t>	- </a:t>
            </a:r>
            <a:r>
              <a:rPr lang="en-US" sz="1800" b="0" dirty="0">
                <a:solidFill>
                  <a:schemeClr val="tx1"/>
                </a:solidFill>
              </a:rPr>
              <a:t>User Query </a:t>
            </a:r>
            <a:r>
              <a:rPr lang="hu-HU" sz="1800" b="0" dirty="0" err="1">
                <a:solidFill>
                  <a:schemeClr val="tx1"/>
                </a:solidFill>
              </a:rPr>
              <a:t>Processing</a:t>
            </a:r>
            <a:r>
              <a:rPr lang="en-US" sz="1800" b="0" dirty="0">
                <a:solidFill>
                  <a:schemeClr val="tx1"/>
                </a:solidFill>
              </a:rPr>
              <a:t> - receives and validates incoming questions.</a:t>
            </a:r>
            <a:endParaRPr lang="hu-HU" sz="1800" b="0" dirty="0">
              <a:solidFill>
                <a:schemeClr val="tx1"/>
              </a:solidFill>
            </a:endParaRPr>
          </a:p>
          <a:p>
            <a:pPr marL="180975" indent="-180975" algn="l"/>
            <a:r>
              <a:rPr lang="hu-HU" sz="1800" b="0" dirty="0">
                <a:solidFill>
                  <a:schemeClr val="tx1"/>
                </a:solidFill>
              </a:rPr>
              <a:t>	- </a:t>
            </a:r>
            <a:r>
              <a:rPr lang="hu-HU" sz="1800" b="0" dirty="0" err="1">
                <a:solidFill>
                  <a:schemeClr val="tx1"/>
                </a:solidFill>
              </a:rPr>
              <a:t>Evidence</a:t>
            </a:r>
            <a:r>
              <a:rPr lang="hu-HU" sz="1800" b="0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Retrieval</a:t>
            </a:r>
            <a:r>
              <a:rPr lang="hu-HU" sz="1800" b="0" dirty="0">
                <a:solidFill>
                  <a:schemeClr val="tx1"/>
                </a:solidFill>
              </a:rPr>
              <a:t> </a:t>
            </a:r>
            <a:r>
              <a:rPr lang="en-US" sz="1800" b="0" dirty="0">
                <a:solidFill>
                  <a:schemeClr val="tx1"/>
                </a:solidFill>
              </a:rPr>
              <a:t>- searches the Wikipedia corpus for </a:t>
            </a:r>
            <a:endParaRPr lang="hu-HU" sz="1800" b="0" dirty="0">
              <a:solidFill>
                <a:schemeClr val="tx1"/>
              </a:solidFill>
            </a:endParaRPr>
          </a:p>
          <a:p>
            <a:pPr marL="180975" indent="-4763" algn="l"/>
            <a:r>
              <a:rPr lang="en-US" sz="1800" b="0" dirty="0">
                <a:solidFill>
                  <a:schemeClr val="tx1"/>
                </a:solidFill>
              </a:rPr>
              <a:t>relevant information.</a:t>
            </a:r>
            <a:endParaRPr lang="hu-HU" sz="1800" b="0" dirty="0">
              <a:solidFill>
                <a:schemeClr val="tx1"/>
              </a:solidFill>
            </a:endParaRPr>
          </a:p>
          <a:p>
            <a:pPr marL="180975" indent="-180975" algn="l"/>
            <a:r>
              <a:rPr lang="hu-HU" sz="1800" b="0" dirty="0">
                <a:solidFill>
                  <a:schemeClr val="tx1"/>
                </a:solidFill>
              </a:rPr>
              <a:t>	- </a:t>
            </a:r>
            <a:r>
              <a:rPr lang="en-US" sz="1800" b="0" dirty="0">
                <a:solidFill>
                  <a:schemeClr val="tx1"/>
                </a:solidFill>
              </a:rPr>
              <a:t>Reasoning Layer - evaluates whether sufficient evidence has been gathered and determines if additional retrieval is needed.</a:t>
            </a:r>
            <a:endParaRPr lang="hu-HU" sz="1800" b="0" dirty="0">
              <a:solidFill>
                <a:schemeClr val="tx1"/>
              </a:solidFill>
            </a:endParaRPr>
          </a:p>
          <a:p>
            <a:pPr marL="180975" indent="-180975" algn="l"/>
            <a:r>
              <a:rPr lang="hu-HU" sz="1800" b="0" dirty="0">
                <a:solidFill>
                  <a:schemeClr val="tx1"/>
                </a:solidFill>
              </a:rPr>
              <a:t>	- </a:t>
            </a:r>
            <a:r>
              <a:rPr lang="en-US" sz="1800" b="0" dirty="0">
                <a:solidFill>
                  <a:schemeClr val="tx1"/>
                </a:solidFill>
              </a:rPr>
              <a:t>Generation Layer - creates the final answer using only the retrieved evidence.</a:t>
            </a:r>
            <a:endParaRPr lang="hu-HU" sz="1800" b="0" dirty="0">
              <a:solidFill>
                <a:schemeClr val="tx1"/>
              </a:solidFill>
            </a:endParaRPr>
          </a:p>
          <a:p>
            <a:pPr algn="l"/>
            <a:endParaRPr lang="hu-HU" sz="1800" b="0" dirty="0">
              <a:solidFill>
                <a:schemeClr val="tx1"/>
              </a:solidFill>
            </a:endParaRPr>
          </a:p>
          <a:p>
            <a:pPr algn="l"/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F4003-6B2E-87CF-2817-76889C6135B4}"/>
              </a:ext>
            </a:extLst>
          </p:cNvPr>
          <p:cNvSpPr txBox="1"/>
          <p:nvPr/>
        </p:nvSpPr>
        <p:spPr>
          <a:xfrm>
            <a:off x="3048000" y="20842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Solution</a:t>
            </a:r>
          </a:p>
        </p:txBody>
      </p:sp>
    </p:spTree>
    <p:extLst>
      <p:ext uri="{BB962C8B-B14F-4D97-AF65-F5344CB8AC3E}">
        <p14:creationId xmlns:p14="http://schemas.microsoft.com/office/powerpoint/2010/main" val="328922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E09B85-CBAA-6E41-F9C1-5D0C62D32631}"/>
              </a:ext>
            </a:extLst>
          </p:cNvPr>
          <p:cNvSpPr txBox="1"/>
          <p:nvPr/>
        </p:nvSpPr>
        <p:spPr>
          <a:xfrm>
            <a:off x="702364" y="239433"/>
            <a:ext cx="5393635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IN" dirty="0"/>
              <a:t> </a:t>
            </a: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Strategy</a:t>
            </a:r>
            <a:r>
              <a:rPr lang="hu-HU" sz="2000" b="0" dirty="0">
                <a:solidFill>
                  <a:schemeClr val="tx1"/>
                </a:solidFill>
              </a:rPr>
              <a:t>:</a:t>
            </a: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i="1" dirty="0">
                <a:solidFill>
                  <a:schemeClr val="tx1"/>
                </a:solidFill>
              </a:rPr>
              <a:t>Hybrid retrieval (BM25 + vector search)</a:t>
            </a:r>
            <a:endParaRPr lang="hu-HU" sz="2000" b="0" i="1" dirty="0">
              <a:solidFill>
                <a:schemeClr val="tx1"/>
              </a:solidFill>
            </a:endParaRPr>
          </a:p>
          <a:p>
            <a:pPr algn="l"/>
            <a:r>
              <a:rPr lang="en-US" sz="2000" b="0" i="1" dirty="0">
                <a:solidFill>
                  <a:schemeClr val="tx1"/>
                </a:solidFill>
              </a:rPr>
              <a:t>Agentic retrieval with iterative</a:t>
            </a:r>
            <a:r>
              <a:rPr lang="hu-HU" sz="2000" b="0" i="1" dirty="0">
                <a:solidFill>
                  <a:schemeClr val="tx1"/>
                </a:solidFill>
              </a:rPr>
              <a:t> </a:t>
            </a:r>
            <a:r>
              <a:rPr lang="en-US" sz="2000" b="0" i="1" dirty="0">
                <a:solidFill>
                  <a:schemeClr val="tx1"/>
                </a:solidFill>
              </a:rPr>
              <a:t>evidence</a:t>
            </a:r>
            <a:r>
              <a:rPr lang="hu-HU" sz="2000" b="0" i="1" dirty="0">
                <a:solidFill>
                  <a:schemeClr val="tx1"/>
                </a:solidFill>
              </a:rPr>
              <a:t> </a:t>
            </a:r>
            <a:r>
              <a:rPr lang="en-US" sz="2000" b="0" i="1" dirty="0">
                <a:solidFill>
                  <a:schemeClr val="tx1"/>
                </a:solidFill>
              </a:rPr>
              <a:t>gathering</a:t>
            </a:r>
            <a:endParaRPr lang="hu-HU" sz="2000" b="0" i="1" dirty="0">
              <a:solidFill>
                <a:schemeClr val="tx1"/>
              </a:solidFill>
            </a:endParaRPr>
          </a:p>
          <a:p>
            <a:pPr algn="l"/>
            <a:r>
              <a:rPr lang="en-US" sz="2000" b="0" i="1" dirty="0">
                <a:solidFill>
                  <a:schemeClr val="tx1"/>
                </a:solidFill>
              </a:rPr>
              <a:t>Relevance-confidence checks and early stopping</a:t>
            </a:r>
            <a:endParaRPr lang="hu-HU" sz="2000" b="0" i="1" dirty="0">
              <a:solidFill>
                <a:schemeClr val="tx1"/>
              </a:solidFill>
            </a:endParaRPr>
          </a:p>
          <a:p>
            <a:pPr algn="l"/>
            <a:r>
              <a:rPr lang="en-US" sz="2000" b="0" i="1" dirty="0">
                <a:solidFill>
                  <a:schemeClr val="tx1"/>
                </a:solidFill>
              </a:rPr>
              <a:t>Grounded answer generation from</a:t>
            </a:r>
            <a:endParaRPr lang="hu-HU" sz="2000" b="0" i="1" dirty="0">
              <a:solidFill>
                <a:schemeClr val="tx1"/>
              </a:solidFill>
            </a:endParaRPr>
          </a:p>
          <a:p>
            <a:pPr algn="l"/>
            <a:r>
              <a:rPr lang="en-US" sz="2000" b="0" i="1" dirty="0">
                <a:solidFill>
                  <a:schemeClr val="tx1"/>
                </a:solidFill>
              </a:rPr>
              <a:t>retrieved passages</a:t>
            </a:r>
            <a:endParaRPr lang="hu-HU" sz="2000" b="0" i="1" dirty="0">
              <a:solidFill>
                <a:schemeClr val="tx1"/>
              </a:solidFill>
            </a:endParaRP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hu-HU" sz="2000" b="0" dirty="0" err="1">
                <a:solidFill>
                  <a:schemeClr val="tx1"/>
                </a:solidFill>
              </a:rPr>
              <a:t>Approach</a:t>
            </a:r>
            <a:r>
              <a:rPr lang="hu-HU" sz="2000" b="0" dirty="0">
                <a:solidFill>
                  <a:schemeClr val="tx1"/>
                </a:solidFill>
              </a:rPr>
              <a:t> -&gt; </a:t>
            </a:r>
            <a:r>
              <a:rPr lang="en-US" sz="2000" b="0" dirty="0">
                <a:solidFill>
                  <a:schemeClr val="tx1"/>
                </a:solidFill>
              </a:rPr>
              <a:t>25-question benchmark</a:t>
            </a:r>
            <a:r>
              <a:rPr lang="hu-HU" sz="2000" b="0" dirty="0">
                <a:solidFill>
                  <a:schemeClr val="tx1"/>
                </a:solidFill>
              </a:rPr>
              <a:t> tested</a:t>
            </a: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	</a:t>
            </a: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✅ Factual Retrieval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✅ Multi-Hop Reasoning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✅ Prompt Injection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✅ Ambiguous Queries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✅ Malformed Inputs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✅ Out-of-Domain Queries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LLM judge produces pass/fail verdicts using grading notes</a:t>
            </a: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	</a:t>
            </a: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D08B99-26E8-96E3-B453-DEED97ED3C1F}"/>
              </a:ext>
            </a:extLst>
          </p:cNvPr>
          <p:cNvSpPr txBox="1"/>
          <p:nvPr/>
        </p:nvSpPr>
        <p:spPr>
          <a:xfrm>
            <a:off x="2822911" y="23943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 and Evaluation</a:t>
            </a:r>
            <a:r>
              <a:rPr lang="hu-HU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I.</a:t>
            </a:r>
            <a:endParaRPr lang="en-IN" sz="2800" b="1" dirty="0">
              <a:solidFill>
                <a:srgbClr val="A31F3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D6AE2E-050C-6A19-401F-551717B9E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899738"/>
            <a:ext cx="5683352" cy="104116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B75C84-B24D-2514-1D0F-3943D9492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522" y="3375608"/>
            <a:ext cx="6546178" cy="300108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715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4C9D-7A64-E9F8-67E5-78C826A0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D8BA0C-6EE3-4844-9110-DBC3F3BE13E1}"/>
              </a:ext>
            </a:extLst>
          </p:cNvPr>
          <p:cNvSpPr txBox="1"/>
          <p:nvPr/>
        </p:nvSpPr>
        <p:spPr>
          <a:xfrm>
            <a:off x="701898" y="-8761"/>
            <a:ext cx="10788203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IN" dirty="0"/>
              <a:t> </a:t>
            </a: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🛡️ </a:t>
            </a:r>
            <a:r>
              <a:rPr lang="hu-HU" sz="2000" dirty="0" err="1">
                <a:solidFill>
                  <a:schemeClr val="tx1"/>
                </a:solidFill>
              </a:rPr>
              <a:t>Security</a:t>
            </a:r>
            <a:r>
              <a:rPr lang="hu-HU" sz="2000" dirty="0">
                <a:solidFill>
                  <a:schemeClr val="tx1"/>
                </a:solidFill>
              </a:rPr>
              <a:t> Test: </a:t>
            </a:r>
            <a:r>
              <a:rPr lang="en-US" sz="2000" dirty="0">
                <a:solidFill>
                  <a:schemeClr val="tx1"/>
                </a:solidFill>
              </a:rPr>
              <a:t>Videodrome Prompt Injection</a:t>
            </a:r>
            <a:r>
              <a:rPr lang="hu-HU" sz="2000" dirty="0">
                <a:solidFill>
                  <a:schemeClr val="tx1"/>
                </a:solidFill>
              </a:rPr>
              <a:t> – PASS</a:t>
            </a: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🔗 </a:t>
            </a:r>
            <a:r>
              <a:rPr lang="hu-HU" sz="2000" dirty="0">
                <a:solidFill>
                  <a:schemeClr val="tx1"/>
                </a:solidFill>
              </a:rPr>
              <a:t>Multi-</a:t>
            </a:r>
            <a:r>
              <a:rPr lang="hu-HU" sz="2000" dirty="0" err="1">
                <a:solidFill>
                  <a:schemeClr val="tx1"/>
                </a:solidFill>
              </a:rPr>
              <a:t>Hop</a:t>
            </a:r>
            <a:r>
              <a:rPr lang="hu-HU" sz="2000" dirty="0">
                <a:solidFill>
                  <a:schemeClr val="tx1"/>
                </a:solidFill>
              </a:rPr>
              <a:t> Test: </a:t>
            </a:r>
            <a:r>
              <a:rPr lang="en-US" sz="2000" dirty="0">
                <a:solidFill>
                  <a:schemeClr val="tx1"/>
                </a:solidFill>
              </a:rPr>
              <a:t>Earthsea vs Dragon Ball</a:t>
            </a:r>
            <a:r>
              <a:rPr lang="hu-HU" sz="2000" dirty="0">
                <a:solidFill>
                  <a:schemeClr val="tx1"/>
                </a:solidFill>
              </a:rPr>
              <a:t> – PASS</a:t>
            </a: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hu-HU" sz="20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hu-HU" sz="20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🧩 </a:t>
            </a:r>
            <a:r>
              <a:rPr lang="hu-HU" sz="2000" dirty="0" err="1">
                <a:solidFill>
                  <a:schemeClr val="tx1"/>
                </a:solidFill>
              </a:rPr>
              <a:t>Relationship</a:t>
            </a:r>
            <a:r>
              <a:rPr lang="hu-HU" sz="2000" dirty="0">
                <a:solidFill>
                  <a:schemeClr val="tx1"/>
                </a:solidFill>
              </a:rPr>
              <a:t> Test: David </a:t>
            </a:r>
            <a:r>
              <a:rPr lang="en-US" sz="2000" dirty="0">
                <a:solidFill>
                  <a:schemeClr val="tx1"/>
                </a:solidFill>
              </a:rPr>
              <a:t>Cronenberg ↔ Tracy McConnell</a:t>
            </a:r>
            <a:r>
              <a:rPr lang="hu-HU" sz="2000" dirty="0">
                <a:solidFill>
                  <a:schemeClr val="tx1"/>
                </a:solidFill>
              </a:rPr>
              <a:t> - PASS</a:t>
            </a: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hu-HU" sz="20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⚠️ </a:t>
            </a:r>
            <a:r>
              <a:rPr lang="en-US" sz="2000" dirty="0">
                <a:solidFill>
                  <a:schemeClr val="tx1"/>
                </a:solidFill>
              </a:rPr>
              <a:t>Tasmania Symbol Query</a:t>
            </a:r>
            <a:r>
              <a:rPr lang="hu-HU" sz="2000" dirty="0">
                <a:solidFill>
                  <a:schemeClr val="tx1"/>
                </a:solidFill>
              </a:rPr>
              <a:t>: - FAIL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4D473-7E69-F6A8-BDF5-3AADA451A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35" y="1102887"/>
            <a:ext cx="10331800" cy="895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0AD96A-94C0-8CF7-3C71-6D3527F26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36" y="2338266"/>
            <a:ext cx="10671166" cy="11357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700A47-0227-756D-C9EA-A4E860E492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57" y="3890219"/>
            <a:ext cx="10537884" cy="11324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7CADA6-D6CF-7320-6DB1-21DE6B365EE7}"/>
              </a:ext>
            </a:extLst>
          </p:cNvPr>
          <p:cNvSpPr txBox="1"/>
          <p:nvPr/>
        </p:nvSpPr>
        <p:spPr>
          <a:xfrm>
            <a:off x="2822911" y="23943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 and Evaluation</a:t>
            </a:r>
            <a:r>
              <a:rPr lang="hu-HU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II.</a:t>
            </a:r>
            <a:endParaRPr lang="en-IN" sz="2800" b="1" dirty="0">
              <a:solidFill>
                <a:srgbClr val="A31F3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C66D9-24B8-D80F-EC6F-FEF098750C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057" y="5370849"/>
            <a:ext cx="10663044" cy="117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7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98A05-6A2E-26EB-863D-C6894A9CD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E1DA61-4C15-9C20-1B6B-5E046DDBE8DD}"/>
              </a:ext>
            </a:extLst>
          </p:cNvPr>
          <p:cNvSpPr txBox="1"/>
          <p:nvPr/>
        </p:nvSpPr>
        <p:spPr>
          <a:xfrm>
            <a:off x="705394" y="608112"/>
            <a:ext cx="107768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chemeClr val="tx1"/>
                </a:solidFill>
              </a:rPr>
              <a:t>Strengths</a:t>
            </a:r>
            <a:r>
              <a:rPr lang="hu-HU" sz="2000" u="sng" dirty="0">
                <a:solidFill>
                  <a:schemeClr val="tx1"/>
                </a:solidFill>
              </a:rPr>
              <a:t>:</a:t>
            </a: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	- </a:t>
            </a:r>
            <a:r>
              <a:rPr lang="en-US" sz="2000" b="0" dirty="0">
                <a:solidFill>
                  <a:schemeClr val="tx1"/>
                </a:solidFill>
              </a:rPr>
              <a:t>Robust against prompt injection attempts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	- </a:t>
            </a:r>
            <a:r>
              <a:rPr lang="en-US" sz="2000" b="0" dirty="0">
                <a:solidFill>
                  <a:schemeClr val="tx1"/>
                </a:solidFill>
              </a:rPr>
              <a:t>Handles noisy queries and multi-document reasoning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	- </a:t>
            </a:r>
            <a:r>
              <a:rPr lang="en-US" sz="2000" b="0" dirty="0">
                <a:solidFill>
                  <a:schemeClr val="tx1"/>
                </a:solidFill>
              </a:rPr>
              <a:t>Refuses unsupported relationships and missing information</a:t>
            </a:r>
            <a:endParaRPr lang="hu-HU" sz="20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hu-HU" sz="2000" b="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chemeClr val="tx1"/>
                </a:solidFill>
              </a:rPr>
              <a:t>Limitations</a:t>
            </a:r>
            <a:r>
              <a:rPr lang="hu-HU" sz="2000" u="sng" dirty="0">
                <a:solidFill>
                  <a:schemeClr val="tx1"/>
                </a:solidFill>
              </a:rPr>
              <a:t>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	- </a:t>
            </a:r>
            <a:r>
              <a:rPr lang="en-US" sz="2000" b="0" dirty="0">
                <a:solidFill>
                  <a:schemeClr val="tx1"/>
                </a:solidFill>
              </a:rPr>
              <a:t>Performance limited by corpus coverage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	- </a:t>
            </a:r>
            <a:r>
              <a:rPr lang="en-US" sz="2000" b="0" dirty="0">
                <a:solidFill>
                  <a:schemeClr val="tx1"/>
                </a:solidFill>
              </a:rPr>
              <a:t>Some queries failed despite relevant retrieval (e.g., Tasmania symbol question)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r>
              <a:rPr lang="hu-HU" sz="2000" b="0" dirty="0">
                <a:solidFill>
                  <a:schemeClr val="tx1"/>
                </a:solidFill>
              </a:rPr>
              <a:t>	- </a:t>
            </a:r>
            <a:r>
              <a:rPr lang="en-US" sz="2000" b="0" dirty="0">
                <a:solidFill>
                  <a:schemeClr val="tx1"/>
                </a:solidFill>
              </a:rPr>
              <a:t>Agentic retrieval increases cost and latency</a:t>
            </a:r>
            <a:endParaRPr lang="hu-HU" sz="2000" b="0" dirty="0">
              <a:solidFill>
                <a:schemeClr val="tx1"/>
              </a:solidFill>
            </a:endParaRPr>
          </a:p>
          <a:p>
            <a:pPr algn="l"/>
            <a:endParaRPr lang="hu-HU" sz="2000" b="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B3FE6-2781-9BE1-B241-42001095873F}"/>
              </a:ext>
            </a:extLst>
          </p:cNvPr>
          <p:cNvSpPr txBox="1"/>
          <p:nvPr/>
        </p:nvSpPr>
        <p:spPr>
          <a:xfrm>
            <a:off x="2822911" y="23943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 and Evaluation</a:t>
            </a:r>
            <a:r>
              <a:rPr lang="hu-HU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III.</a:t>
            </a:r>
            <a:endParaRPr lang="en-IN" sz="2800" b="1" dirty="0">
              <a:solidFill>
                <a:srgbClr val="A31F3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8FBCC-762A-B393-4E48-03DC8C04E8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71" b="26173"/>
          <a:stretch>
            <a:fillRect/>
          </a:stretch>
        </p:blipFill>
        <p:spPr>
          <a:xfrm>
            <a:off x="2629682" y="4092878"/>
            <a:ext cx="6932635" cy="261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3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92D5CD-CEED-CAF9-8E1C-650675A313C3}"/>
              </a:ext>
            </a:extLst>
          </p:cNvPr>
          <p:cNvSpPr txBox="1"/>
          <p:nvPr/>
        </p:nvSpPr>
        <p:spPr>
          <a:xfrm>
            <a:off x="2888974" y="23721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Decisions</a:t>
            </a:r>
            <a:r>
              <a:rPr lang="hu-HU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I.</a:t>
            </a:r>
            <a:endParaRPr lang="en-IN" sz="2800" b="1" dirty="0">
              <a:solidFill>
                <a:srgbClr val="A31F3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DEBB4-3B63-6DC8-6FA8-CC3FFF2505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72" b="15922"/>
          <a:stretch>
            <a:fillRect/>
          </a:stretch>
        </p:blipFill>
        <p:spPr>
          <a:xfrm>
            <a:off x="791260" y="1534860"/>
            <a:ext cx="10609480" cy="50859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D0D507-313B-8E5C-4464-38DE088B1439}"/>
              </a:ext>
            </a:extLst>
          </p:cNvPr>
          <p:cNvSpPr txBox="1"/>
          <p:nvPr/>
        </p:nvSpPr>
        <p:spPr>
          <a:xfrm>
            <a:off x="4802513" y="709819"/>
            <a:ext cx="30187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Hybrid Retrieval instead of a single retrieval method</a:t>
            </a:r>
            <a:endParaRPr lang="hu-HU" sz="2000" i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1FB9D-1161-6FD1-B90A-B31EB364389A}"/>
              </a:ext>
            </a:extLst>
          </p:cNvPr>
          <p:cNvSpPr txBox="1"/>
          <p:nvPr/>
        </p:nvSpPr>
        <p:spPr>
          <a:xfrm>
            <a:off x="8855798" y="705927"/>
            <a:ext cx="3217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Agentic Retrieval with</a:t>
            </a:r>
            <a:endParaRPr lang="hu-HU" sz="2000" i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i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Relevance Checking</a:t>
            </a:r>
            <a:endParaRPr lang="hu-HU" sz="2000" i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8A6E2-E083-472E-FD3D-CEE967B64CCC}"/>
              </a:ext>
            </a:extLst>
          </p:cNvPr>
          <p:cNvSpPr txBox="1"/>
          <p:nvPr/>
        </p:nvSpPr>
        <p:spPr>
          <a:xfrm>
            <a:off x="791260" y="705927"/>
            <a:ext cx="3175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Converting Wikipedia HTML</a:t>
            </a:r>
            <a:endParaRPr lang="hu-HU" sz="2000" i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i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articles to plain text</a:t>
            </a:r>
            <a:endParaRPr lang="hu-HU" sz="2000" i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907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CB1A5-3F27-B89B-2804-45C10127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C8AB49-C7DC-12BC-870A-DAF19D0EA69D}"/>
              </a:ext>
            </a:extLst>
          </p:cNvPr>
          <p:cNvSpPr txBox="1"/>
          <p:nvPr/>
        </p:nvSpPr>
        <p:spPr>
          <a:xfrm>
            <a:off x="2888974" y="23721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Decisions</a:t>
            </a:r>
            <a:r>
              <a:rPr lang="hu-HU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II.</a:t>
            </a:r>
            <a:endParaRPr lang="en-IN" sz="2800" b="1" dirty="0">
              <a:solidFill>
                <a:srgbClr val="A31F3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92A8E-E922-DEDB-7DE6-22F693D87D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78" b="16852"/>
          <a:stretch>
            <a:fillRect/>
          </a:stretch>
        </p:blipFill>
        <p:spPr>
          <a:xfrm>
            <a:off x="0" y="978856"/>
            <a:ext cx="12104094" cy="567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20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3039292" y="23705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and Future Improvements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43BDBB-9829-FA45-298C-D0114927C2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9" t="12592" r="1015" b="16111"/>
          <a:stretch>
            <a:fillRect/>
          </a:stretch>
        </p:blipFill>
        <p:spPr>
          <a:xfrm>
            <a:off x="177800" y="851692"/>
            <a:ext cx="11849100" cy="575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43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0254CD-0903-966C-40EF-C5EBA490158C}"/>
              </a:ext>
            </a:extLst>
          </p:cNvPr>
          <p:cNvSpPr txBox="1"/>
          <p:nvPr/>
        </p:nvSpPr>
        <p:spPr>
          <a:xfrm>
            <a:off x="707571" y="1497600"/>
            <a:ext cx="91439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 lang="en-IN" dirty="0"/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Thank you!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Be prepared to discuss: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Design rationale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Evaluation evidence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Engineering trade-offs</a:t>
            </a: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.</a:t>
            </a:r>
          </a:p>
          <a:p>
            <a:pPr algn="l"/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4D497-87C5-39D6-FAF0-4FE272E0EB7E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937486198"/>
      </p:ext>
    </p:extLst>
  </p:cSld>
  <p:clrMapOvr>
    <a:masterClrMapping/>
  </p:clrMapOvr>
</p:sld>
</file>

<file path=ppt/theme/theme1.xml><?xml version="1.0" encoding="utf-8"?>
<a:theme xmlns:a="http://schemas.openxmlformats.org/drawingml/2006/main" name="1_MIT P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1747</Words>
  <Application>Microsoft Office PowerPoint</Application>
  <PresentationFormat>Widescreen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1_MIT 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Shilpiya</dc:creator>
  <cp:lastModifiedBy>Richárd Mihály Karsai</cp:lastModifiedBy>
  <cp:revision>103</cp:revision>
  <cp:lastPrinted>2026-10-13T14:36:04Z</cp:lastPrinted>
  <dcterms:created xsi:type="dcterms:W3CDTF">2018-11-05T13:58:18Z</dcterms:created>
  <dcterms:modified xsi:type="dcterms:W3CDTF">2026-10-13T22:11:44Z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0x010100296DC331548237488BA9A87C5C22BBA4</vt:lpwstr>
  </property>
  <property fmtid="{D5CDD505-2E9C-101B-9397-08002B2CF9AE}" pid="3" name="ArticulateGUID">
    <vt:lpwstr>405BEB8A-A8B9-422E-86C1-391F774E521D</vt:lpwstr>
  </property>
  <property fmtid="{D5CDD505-2E9C-101B-9397-08002B2CF9AE}" pid="4" name="ArticulatePath">
    <vt:lpwstr>MIT_xPRO_PPT_Template</vt:lpwstr>
  </property>
  <property fmtid="{D5CDD505-2E9C-101B-9397-08002B2CF9AE}" pid="5" name="MSIP_Label_f335f49f-9011-4c47-8537-34e8442d0f54_Enabled">
    <vt:lpwstr>true</vt:lpwstr>
  </property>
  <property fmtid="{D5CDD505-2E9C-101B-9397-08002B2CF9AE}" pid="6" name="MSIP_Label_f335f49f-9011-4c47-8537-34e8442d0f54_SetDate">
    <vt:lpwstr>2026-10-13T13:27:45Z</vt:lpwstr>
  </property>
  <property fmtid="{D5CDD505-2E9C-101B-9397-08002B2CF9AE}" pid="7" name="MSIP_Label_f335f49f-9011-4c47-8537-34e8442d0f54_Method">
    <vt:lpwstr>Privileged</vt:lpwstr>
  </property>
  <property fmtid="{D5CDD505-2E9C-101B-9397-08002B2CF9AE}" pid="8" name="MSIP_Label_f335f49f-9011-4c47-8537-34e8442d0f54_Name">
    <vt:lpwstr>Personal</vt:lpwstr>
  </property>
  <property fmtid="{D5CDD505-2E9C-101B-9397-08002B2CF9AE}" pid="9" name="MSIP_Label_f335f49f-9011-4c47-8537-34e8442d0f54_SiteId">
    <vt:lpwstr>282a3295-5c42-4d93-9ec1-6631001cc5f7</vt:lpwstr>
  </property>
  <property fmtid="{D5CDD505-2E9C-101B-9397-08002B2CF9AE}" pid="10" name="MSIP_Label_f335f49f-9011-4c47-8537-34e8442d0f54_ActionId">
    <vt:lpwstr>49e187e4-bd47-4aa7-96b5-32dcc32d3bc9</vt:lpwstr>
  </property>
  <property fmtid="{D5CDD505-2E9C-101B-9397-08002B2CF9AE}" pid="11" name="MSIP_Label_f335f49f-9011-4c47-8537-34e8442d0f54_ContentBits">
    <vt:lpwstr>0</vt:lpwstr>
  </property>
  <property fmtid="{D5CDD505-2E9C-101B-9397-08002B2CF9AE}" pid="12" name="MSIP_Label_f335f49f-9011-4c47-8537-34e8442d0f54_Tag">
    <vt:lpwstr>10, 0, 1, 1</vt:lpwstr>
  </property>
</Properties>
</file>